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00000"/>
            <a:ext cx="103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E64A19"/>
                </a:solidFill>
                <a:latin typeface="Segoe UI"/>
              </a:rPr>
              <a:t>NUAM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300000"/>
            <a:ext cx="103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C3539"/>
                </a:solidFill>
                <a:latin typeface="Segoe UI"/>
              </a:rPr>
              <a:t>Mantenedor de Calificaciones Tributarias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200000"/>
            <a:ext cx="103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66B"/>
                </a:solidFill>
                <a:latin typeface="Segoe UI"/>
              </a:rPr>
              <a:t>Sistema web en Flask + MongoDB para la homologación DJ 1949 → DJ 1922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5A666B"/>
                </a:solidFill>
                <a:latin typeface="Segoe UI"/>
              </a:rPr>
              <a:t>Conversión automática de montos a factores tributarios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000" y="3150000"/>
            <a:ext cx="2400000" cy="600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5800000"/>
            <a:ext cx="10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66B"/>
                </a:solidFill>
                <a:latin typeface="Segoe UI"/>
              </a:rPr>
              <a:t>github.com/Pipstachio77777dev/NUAM-ANTO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Contexto y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500000"/>
            <a:ext cx="5400000" cy="22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El negocio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Los corredores de bolsa deben calificar tributariamente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los dividendos pagados por cada instrumento en un ejercicio.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/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La homologación DJ 1949 → DJ 1922 se resuelve con 30 columnas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codificadas (8 a 37), cada una con un factor tributario.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0000" y="1500000"/>
            <a:ext cx="5400000" cy="22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El dolor actual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Cálculo manual propenso a errores de redondeo.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Sin historial: no se sabe quién creó o modificó qué.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Cargas masivas en planillas dispersas y sin validación.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3950000"/>
            <a:ext cx="11100000" cy="19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La solución NUAM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Mantenedor web centralizado que calcula los factores con reglas exactas e inmutables,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valida los datos al ingresarlos, acepta cargas masivas por CSV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y deja trazabilidad completa de cada acción (crear / modificar / eliminar / carga).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Arquitectura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900000"/>
            <a:ext cx="2900000" cy="1300000"/>
          </a:xfrm>
          <a:prstGeom prst="roundRect">
            <a:avLst>
              <a:gd name="adj" fmla="val 10000"/>
            </a:avLst>
          </a:prstGeom>
          <a:solidFill>
            <a:srgbClr val="2C3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9" b="1">
                <a:solidFill>
                  <a:srgbClr val="FFFFFF"/>
                </a:solidFill>
                <a:latin typeface="Segoe UI"/>
              </a:rPr>
              <a:t>Navegador</a:t>
            </a:r>
          </a:p>
          <a:p>
            <a:pPr algn="ctr">
              <a:spcBef>
                <a:spcPts val="314"/>
              </a:spcBef>
            </a:pPr>
            <a:r>
              <a:rPr sz="944">
                <a:solidFill>
                  <a:srgbClr val="B8C4C9"/>
                </a:solidFill>
                <a:latin typeface="Segoe UI"/>
              </a:rPr>
              <a:t>SPA HTML/CSS/JS sin frameworks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50000" y="2370000"/>
            <a:ext cx="450000" cy="350000"/>
          </a:xfrm>
          <a:prstGeom prst="rightArrow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50000" y="1900000"/>
            <a:ext cx="3200000" cy="1300000"/>
          </a:xfrm>
          <a:prstGeom prst="roundRect">
            <a:avLst>
              <a:gd name="adj" fmla="val 10000"/>
            </a:avLst>
          </a:prstGeom>
          <a:solidFill>
            <a:srgbClr val="2C3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9" b="1">
                <a:solidFill>
                  <a:srgbClr val="FFFFFF"/>
                </a:solidFill>
                <a:latin typeface="Segoe UI"/>
              </a:rPr>
              <a:t>API REST Flask</a:t>
            </a:r>
          </a:p>
          <a:p>
            <a:pPr algn="ctr">
              <a:spcBef>
                <a:spcPts val="314"/>
              </a:spcBef>
            </a:pPr>
            <a:r>
              <a:rPr sz="944">
                <a:solidFill>
                  <a:srgbClr val="B8C4C9"/>
                </a:solidFill>
                <a:latin typeface="Segoe UI"/>
              </a:rPr>
              <a:t>Python 3.14 · venv · puerto 5000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700000" y="2370000"/>
            <a:ext cx="450000" cy="350000"/>
          </a:xfrm>
          <a:prstGeom prst="rightArrow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0000" y="1900000"/>
            <a:ext cx="3100000" cy="1300000"/>
          </a:xfrm>
          <a:prstGeom prst="roundRect">
            <a:avLst>
              <a:gd name="adj" fmla="val 10000"/>
            </a:avLst>
          </a:prstGeom>
          <a:solidFill>
            <a:srgbClr val="2C3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9" b="1">
                <a:solidFill>
                  <a:srgbClr val="FFFFFF"/>
                </a:solidFill>
                <a:latin typeface="Segoe UI"/>
              </a:rPr>
              <a:t>MongoDB</a:t>
            </a:r>
          </a:p>
          <a:p>
            <a:pPr algn="ctr">
              <a:spcBef>
                <a:spcPts val="314"/>
              </a:spcBef>
            </a:pPr>
            <a:r>
              <a:rPr sz="944">
                <a:solidFill>
                  <a:srgbClr val="B8C4C9"/>
                </a:solidFill>
                <a:latin typeface="Segoe UI"/>
              </a:rPr>
              <a:t>Colecciones calificaciones y auditoria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3600000"/>
            <a:ext cx="108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• dominio/ — lógica tributaria pura (factores.py) y validadores con mensajes exactos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• db.py — índice único (ejercicio + mercado + instrumento + secuencia), semilla automática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• app.py — API REST completa con auditoría automática de cada operación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• static/ y templates/ — interfaz SPA con navegación por estado y fetch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• Scripts .bat — requerimientos.bat (instala) e iniciar.bat (levanta y abre el navegador)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Reglas del dominio tributario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450000"/>
            <a:ext cx="5450000" cy="24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Cálculo del factor (columna i)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peso_i = 0.96^i  (i = 0..29), normalizado y redondeado a 8 decimales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/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actualización = factor_actualizacion si &gt; 0, si no 1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valorActualizado = valor_historico × actualización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/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factor = round8( (dividendo × peso_i) ÷ valorActualizado )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clamp SIEMPRE a [0, 1]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0000" y="1450000"/>
            <a:ext cx="5450000" cy="24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Redondeo round8 sin errores flotantes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Formatea a 9 decimales, observa el dígito 9°: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si ≥ 5 suma 1 al bloque de 8 decimales (con acarreo).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/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round8(0.123456789) → 0.12345679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round8(0.1 + 0.2)   → 0.3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4150000"/>
            <a:ext cx="11200000" cy="16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Valor verificado en pruebas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EMPRESAS CMPC S.A. (dividendo 1.200,5 · valor histórico 12.500 · factor actualización 1,00024)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→ factor columna 9 = 0.0052214  ✓  (coincide con el criterio de aceptación del negocio)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Los factores se persisten como JSON {"8": …, "37": …} y se recalculan al guardar.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Pantallas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350000"/>
            <a:ext cx="11200000" cy="8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Inicio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Acceso rápido a las 3 funciones principales.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350000"/>
            <a:ext cx="11200000" cy="8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Consultar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Filtros por mercado (ACC/CFI/FMU), origen y ejercicio; grilla de resultados.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3350000"/>
            <a:ext cx="11200000" cy="8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Ingresar / Modificar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Formulario completo; muestra los errores exactos de la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350000"/>
            <a:ext cx="11200000" cy="8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Carga masiva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Pega líneas o sube un CSV; resumen insertados vs. con errores por fila.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5350000"/>
            <a:ext cx="11200000" cy="85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Trazabilidad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Bitácora con código de color: terracota = acciones, rojo = eliminaciones.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6400000"/>
            <a:ext cx="11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66B"/>
                </a:solidFill>
                <a:latin typeface="Segoe UI"/>
              </a:rPr>
              <a:t>Login local fijo: ADMIN@mail.com / 1234 · Sidebar colapsable que nunca desplaza el contenido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API REST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000" y="1500000"/>
          <a:ext cx="112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333"/>
                <a:gridCol w="3733333"/>
                <a:gridCol w="3733334"/>
              </a:tblGrid>
              <a:tr h="475000">
                <a:tc>
                  <a:txBody>
                    <a:bodyPr/>
                    <a:lstStyle/>
                    <a:p>
                      <a:r>
                        <a:rPr sz="944" b="1">
                          <a:solidFill>
                            <a:srgbClr val="FFFFFF"/>
                          </a:solidFill>
                          <a:latin typeface="Segoe UI"/>
                        </a:rPr>
                        <a:t>Método</a:t>
                      </a:r>
                    </a:p>
                  </a:txBody>
                  <a:tcPr anchor="ctr" marL="100000"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 b="1">
                          <a:solidFill>
                            <a:srgbClr val="FFFFFF"/>
                          </a:solidFill>
                          <a:latin typeface="Segoe UI"/>
                        </a:rPr>
                        <a:t>Ruta</a:t>
                      </a:r>
                    </a:p>
                  </a:txBody>
                  <a:tcPr anchor="ctr" marL="100000"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 b="1">
                          <a:solidFill>
                            <a:srgbClr val="FFFFFF"/>
                          </a:solidFill>
                          <a:latin typeface="Segoe UI"/>
                        </a:rPr>
                        <a:t>Descripción</a:t>
                      </a:r>
                    </a:p>
                  </a:txBody>
                  <a:tcPr anchor="ctr" marL="100000">
                    <a:solidFill>
                      <a:srgbClr val="E64A19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/api/calificaciones?mercado=&amp;origen=&amp;ejercicio=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Lista con filtros opcionales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Crear → 201 · errores → 400 {"errores":[…]}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PUT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/api/calificaciones/&lt;id&gt;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Modificar → 200 · 404 si no existe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/api/calificaciones/&lt;id&gt;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Eliminar → 204 vacío · 404 si no existe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/api/calificaciones/catalogos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Ejercicios sin duplicados: [2022, 2023, 2024]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/api/calificaciones/auditoria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Bitácora, más recientes primero</a:t>
                      </a:r>
                    </a:p>
                  </a:txBody>
                  <a:tcPr anchor="ctr" marL="100000">
                    <a:solidFill>
                      <a:srgbClr val="FFFFFF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/api/calificaciones/masiva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4">
                          <a:solidFill>
                            <a:srgbClr val="2C3539"/>
                          </a:solidFill>
                          <a:latin typeface="Segoe UI"/>
                        </a:rPr>
                        <a:t>Carga masiva {"lineas":[…]} con detalle por fila</a:t>
                      </a:r>
                    </a:p>
                  </a:txBody>
                  <a:tcPr anchor="ctr" marL="100000">
                    <a:solidFill>
                      <a:srgbClr val="F7F8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0000" y="5700000"/>
            <a:ext cx="112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66B"/>
                </a:solidFill>
                <a:latin typeface="Segoe UI"/>
              </a:rPr>
              <a:t>Formato camelCase · auditoría automática con usuario y resumen por evento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Base de datos MongoDB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450000"/>
            <a:ext cx="5450000" cy="26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colección: calificaciones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mercado (ACC/CFI/FMU) · instrumento · secuencia_evento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dividendo · fecha_pago DD-MM-AAAA · valor_historico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ejercicio · isfut · factor_actualizacion · origen (ENTIDAD/SISTEMA)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factores JSON columnas 8–37 · fechas de creación y actualización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/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Índice ÚNICO: ejercicio + mercado + instrumento + secuencia_evento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0000" y="1450000"/>
            <a:ext cx="5450000" cy="26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colección: auditoria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evento: crear | modificar | eliminar | carga masiva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registro_id · instrumento · ejercicio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resumen legible por humano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usuario (ADMIN@mail.com) · fecha ISO 8601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4300000"/>
            <a:ext cx="11200000" cy="15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Semilla automática al primer arranque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5 registros reales de ejemplo: CMPC, SQM-B, CFI LarrainVial, FM Consultora y FM Principal Chile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+ entrada de auditoría 'Se sembraron 5 registros iniciales de ejemplo'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Calidad y pruebas automatizadas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000" y="14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C3539"/>
                </a:solidFill>
                <a:latin typeface="Segoe UI"/>
              </a:rPr>
              <a:t>36 verificaciones automáticas sobre los criterios de aceptación — todas en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30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230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Factor CMPC columna 9 = 0.0052214 exacto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82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282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round8 sin artefactos: 0.12345679 y 0.3 verificados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334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00" y="334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Todos los factores dentro de [0, 1], columnas 8–37 completas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386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000" y="386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Catálogos devuelven [2022, 2023, 2024] sin duplicados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00" y="438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000" y="438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Mensajes de validación EXACTOS (ej.: 'Ejercicio debe ser numérico de largo 4')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000" y="490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000" y="490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CRUD completo registra auditoría con resúmenes correctos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000" y="542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000" y="542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Duplicados rechazados (índice único) · PUT/DELETE inexistentes → 404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00" y="5940000"/>
            <a:ext cx="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4A19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000" y="594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C3539"/>
                </a:solidFill>
                <a:latin typeface="Segoe UI"/>
              </a:rPr>
              <a:t>Carga masiva: línea inválida rechazada, válida insertada con factores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Cómo ejecutarlo</a:t>
            </a:r>
          </a:p>
        </p:txBody>
      </p:sp>
      <p:sp>
        <p:nvSpPr>
          <p:cNvPr id="5" name="Oval 4"/>
          <p:cNvSpPr/>
          <p:nvPr/>
        </p:nvSpPr>
        <p:spPr>
          <a:xfrm>
            <a:off x="650000" y="1500000"/>
            <a:ext cx="620000" cy="620000"/>
          </a:xfrm>
          <a:prstGeom prst="ellipse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38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147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3539"/>
                </a:solidFill>
                <a:latin typeface="Segoe UI"/>
              </a:rPr>
              <a:t>Instalar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C3539"/>
                </a:solidFill>
                <a:latin typeface="Segoe UI"/>
              </a:rPr>
              <a:t>Doble clic en requerimientos.bat (crea el venv e instala dependencias).</a:t>
            </a:r>
          </a:p>
        </p:txBody>
      </p:sp>
      <p:sp>
        <p:nvSpPr>
          <p:cNvPr id="7" name="Oval 6"/>
          <p:cNvSpPr/>
          <p:nvPr/>
        </p:nvSpPr>
        <p:spPr>
          <a:xfrm>
            <a:off x="650000" y="2550000"/>
            <a:ext cx="620000" cy="620000"/>
          </a:xfrm>
          <a:prstGeom prst="ellipse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38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000" y="252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3539"/>
                </a:solidFill>
                <a:latin typeface="Segoe UI"/>
              </a:rPr>
              <a:t>Requisitos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C3539"/>
                </a:solidFill>
                <a:latin typeface="Segoe UI"/>
              </a:rPr>
              <a:t>MongoDB corriendo en localhost:27017.</a:t>
            </a:r>
          </a:p>
        </p:txBody>
      </p:sp>
      <p:sp>
        <p:nvSpPr>
          <p:cNvPr id="9" name="Oval 8"/>
          <p:cNvSpPr/>
          <p:nvPr/>
        </p:nvSpPr>
        <p:spPr>
          <a:xfrm>
            <a:off x="650000" y="3600000"/>
            <a:ext cx="620000" cy="620000"/>
          </a:xfrm>
          <a:prstGeom prst="ellipse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38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000" y="357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3539"/>
                </a:solidFill>
                <a:latin typeface="Segoe UI"/>
              </a:rPr>
              <a:t>Iniciar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C3539"/>
                </a:solidFill>
                <a:latin typeface="Segoe UI"/>
              </a:rPr>
              <a:t>Doble clic en iniciar.bat → abre http://127.0.0.1:5000 solo.</a:t>
            </a:r>
          </a:p>
        </p:txBody>
      </p:sp>
      <p:sp>
        <p:nvSpPr>
          <p:cNvPr id="11" name="Oval 10"/>
          <p:cNvSpPr/>
          <p:nvPr/>
        </p:nvSpPr>
        <p:spPr>
          <a:xfrm>
            <a:off x="650000" y="4650000"/>
            <a:ext cx="620000" cy="620000"/>
          </a:xfrm>
          <a:prstGeom prst="ellipse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38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000" y="4620000"/>
            <a:ext cx="10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C3539"/>
                </a:solidFill>
                <a:latin typeface="Segoe UI"/>
              </a:rPr>
              <a:t>Sesión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2C3539"/>
                </a:solidFill>
                <a:latin typeface="Segoe UI"/>
              </a:rPr>
              <a:t>Correo ADMIN@mail.com · clave 1234.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" y="59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66B"/>
                </a:solidFill>
                <a:latin typeface="Segoe UI"/>
              </a:rPr>
              <a:t>Código fuente: github.com/Pipstachio77777dev/NUAM-ANTO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E64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62" b="1">
                <a:solidFill>
                  <a:srgbClr val="FFFFFF"/>
                </a:solidFill>
                <a:latin typeface="Segoe UI"/>
              </a:rPr>
              <a:t>Próximos pasos sugeridos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500000"/>
            <a:ext cx="11200000" cy="10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Autenticación real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Reemplazar el login fijo por usuarios con roles (administrador, operador, consulta).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650000"/>
            <a:ext cx="11200000" cy="10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Exportaciones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Descarga de grillas y factores a Excel/PDF para reportes regulatorios.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3800000"/>
            <a:ext cx="11200000" cy="10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Producción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Migrar de SQLite-like local a MongoDB Atlas o servidor dedicado con respaldos.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4950000"/>
            <a:ext cx="11200000" cy="1000000"/>
          </a:xfrm>
          <a:prstGeom prst="roundRect">
            <a:avLst>
              <a:gd name="adj" fmla="val 6000"/>
            </a:avLst>
          </a:prstGeom>
          <a:solidFill>
            <a:srgbClr val="F7F8F7"/>
          </a:solidFill>
          <a:ln>
            <a:solidFill>
              <a:srgbClr val="DD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0000" tIns="140000"/>
          <a:lstStyle/>
          <a:p>
            <a:pPr algn="ctr"/>
            <a:r>
              <a:rPr sz="1338" b="1">
                <a:solidFill>
                  <a:srgbClr val="E64A19"/>
                </a:solidFill>
                <a:latin typeface="Segoe UI"/>
              </a:rPr>
              <a:t>Más mercados e instrumentos</a:t>
            </a:r>
          </a:p>
          <a:p>
            <a:pPr>
              <a:spcBef>
                <a:spcPts val="393"/>
              </a:spcBef>
            </a:pPr>
            <a:r>
              <a:rPr sz="1023">
                <a:solidFill>
                  <a:srgbClr val="2C3539"/>
                </a:solidFill>
                <a:latin typeface="Segoe UI"/>
              </a:rPr>
              <a:t>Ampliar catálogos según nuevos convenios NUAM (Chile · Colombia · Perú).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6200000"/>
            <a:ext cx="11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A666B"/>
                </a:solidFill>
                <a:latin typeface="Segoe UI"/>
              </a:rPr>
              <a:t>NUAM — Mantenedor de Calificaciones Tributarias ·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